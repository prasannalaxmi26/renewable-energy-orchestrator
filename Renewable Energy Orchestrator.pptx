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64592" cy="182880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16459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1097280" cy="16459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2768" y="2377440"/>
            <a:ext cx="164592" cy="91440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0972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</a:rPr>
              <a:t>Renewable Energy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0116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8A"/>
                </a:solidFill>
              </a:rPr>
              <a:t>Orchestrator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949E"/>
                </a:solidFill>
              </a:rPr>
              <a:t>AI-Powered Multi-Agent System for Real-Time Grid Optimisation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03120" y="3657600"/>
            <a:ext cx="64008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312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</a:rPr>
              <a:t>ET AI Hackathon: Agentic Edition  ·  Problem 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Presented by Accenture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03120" y="5029200"/>
            <a:ext cx="21945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03120" y="5074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8A"/>
                </a:solidFill>
              </a:rPr>
              <a:t>8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Nodes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5029200"/>
            <a:ext cx="21945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5074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8A"/>
                </a:solidFill>
              </a:rPr>
              <a:t>7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Agents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5029200"/>
            <a:ext cx="21945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5074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8A"/>
                </a:solidFill>
              </a:rPr>
              <a:t>480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Simulations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5029200"/>
            <a:ext cx="21945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0" y="5074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8A"/>
                </a:solidFill>
              </a:rPr>
              <a:t>269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Tests Pass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Why renewable energy grids are difficult to manage manually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657600" cy="40233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36576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" y="120700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⚡  Unpredictable Supply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169164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Solar drops 80% when clouds pass over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219456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Wind surges without warning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269748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No operator can react in milliseconds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320040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Generation swings ±40% in minutes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097280"/>
            <a:ext cx="3657600" cy="4023360"/>
          </a:xfrm>
          <a:prstGeom prst="rect">
            <a:avLst/>
          </a:prstGeom>
          <a:solidFill>
            <a:srgbClr val="161B22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097280"/>
            <a:ext cx="36576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120700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07"/>
                </a:solidFill>
              </a:rPr>
              <a:t>💰  Volatile Market Prices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169164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Electricity swings $30 → $160/MWh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219456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Missing a sell window = lost revenue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07408" y="269748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Manual trading decisions are too slow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07408" y="320040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Price spikes last only minutes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1097280"/>
            <a:ext cx="3657600" cy="4023360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097280"/>
            <a:ext cx="3657600" cy="731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9328" y="120700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72"/>
                </a:solidFill>
              </a:rPr>
              <a:t>🔋  Conflicting Objectives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39328" y="169164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Charge or discharge batteries?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39328" y="219456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Buy from grid or curtail generation?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269748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Safety vs profit vs carbon — simultaneously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320040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• No single operator can balance all goals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5349240"/>
            <a:ext cx="11430000" cy="8229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Human operators managing these trade-offs manually create avoidable losses — the grid needs autonomous AI decision-making.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</a:rPr>
              <a:t>Our Solution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LangGraph multi-agent orchestration — 7 AI agents, 8 nodes, every 15 minutes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3931920" cy="64008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0" y="12070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Energy Orchestrator 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3200400" cy="658368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" y="1316736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☀️ Solar Data (5 farms)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581912"/>
            <a:ext cx="64008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57400"/>
            <a:ext cx="3200400" cy="658368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" y="2093976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💨 Wind Data (3 farms)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359152"/>
            <a:ext cx="64008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34640"/>
            <a:ext cx="3200400" cy="658368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" y="2871216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🔋 Battery BMS (BESS-1/2)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3136392"/>
            <a:ext cx="64008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11880"/>
            <a:ext cx="3200400" cy="658368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" y="3648456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🏭 Grid Demand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3913632"/>
            <a:ext cx="64008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389120"/>
            <a:ext cx="3200400" cy="658368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" y="4425696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💰 Market Prices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4690872"/>
            <a:ext cx="64008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5166360"/>
            <a:ext cx="3200400" cy="658368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" y="5202936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🌤️ External / Weather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5468112"/>
            <a:ext cx="64008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1280160"/>
            <a:ext cx="3383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22208" y="131673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📋 Decision Brief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1581912"/>
            <a:ext cx="365760" cy="2743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2057400"/>
            <a:ext cx="3383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22208" y="209397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✅ HITL Approval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2359152"/>
            <a:ext cx="365760" cy="2743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2834640"/>
            <a:ext cx="3383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22208" y="287121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🎯 Resolved Actions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0" y="3136392"/>
            <a:ext cx="365760" cy="2743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3611880"/>
            <a:ext cx="3383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22208" y="364845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📊 Monte Carlo Scenarios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46720" y="3913632"/>
            <a:ext cx="365760" cy="2743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4389120"/>
            <a:ext cx="3383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22208" y="442569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⚠️  Conflict Alerts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46720" y="4690872"/>
            <a:ext cx="365760" cy="2743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5166360"/>
            <a:ext cx="3383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22208" y="520293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📈 Audit Log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46720" y="5468112"/>
            <a:ext cx="365760" cy="2743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0" y="1920240"/>
            <a:ext cx="3931920" cy="4434840"/>
          </a:xfrm>
          <a:prstGeom prst="rect">
            <a:avLst/>
          </a:prstGeom>
          <a:solidFill>
            <a:srgbClr val="0A1A2A"/>
          </a:solidFill>
          <a:ln w="19050">
            <a:solidFill>
              <a:srgbClr val="00D48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24528" y="1965960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8A"/>
                </a:solidFill>
              </a:rPr>
              <a:t>LangGraph State Machine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97680" y="2377440"/>
            <a:ext cx="35661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407408" y="2404872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8A"/>
                </a:solidFill>
              </a:rPr>
              <a:t>① Aggregate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760720" y="2743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▼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97680" y="2907792"/>
            <a:ext cx="35661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07408" y="2935224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② Classify (Sonnet)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760720" y="32735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297680" y="3438144"/>
            <a:ext cx="35661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407408" y="346557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107"/>
                </a:solidFill>
              </a:rPr>
              <a:t>③ Quantify (P10/P50/P90)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760720" y="38039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▼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97680" y="3968496"/>
            <a:ext cx="35661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07408" y="3995928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</a:rPr>
              <a:t>④ Run 7 Agents (Haiku)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760720" y="4334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297680" y="4498848"/>
            <a:ext cx="35661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407408" y="4526280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B72"/>
                </a:solidFill>
              </a:rPr>
              <a:t>⑤ Resolve Conflicts (Sonnet)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5760720" y="4864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▼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297680" y="5029200"/>
            <a:ext cx="35661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407408" y="5056632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⑥ Monte Carlo (NumPy)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5760720" y="5394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▼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297680" y="5559552"/>
            <a:ext cx="356616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407408" y="5586984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107"/>
                </a:solidFill>
              </a:rPr>
              <a:t>⑦ Report (Sonnet)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LangGraph State Machine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orchestrator.py — EnergySystemState TypedDict flows through 7 nodes in sequence. Each node reads state, writes its results back.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10896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" y="104241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8A"/>
                </a:solidFill>
              </a:rPr>
              <a:t>①  aggregate_node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135331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8A"/>
                </a:solidFill>
              </a:rPr>
              <a:t>Pure Python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207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03320" y="100584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13048" y="10424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Writes: 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04241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system_summary {total_gen, net_balance, surplus}  ·  agent_logs[]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1682496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</a:rPr>
              <a:t>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310896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" y="181965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②  classify_node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" y="213055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Claude Sonnet  +  Demo fallback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19842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03320" y="178308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13048" y="1819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Writes: 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18196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operational_mode  ·  objective_weights {cost·carbon·reliability·renew·profit}  ·  situation_reasoning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2459736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560320"/>
            <a:ext cx="310896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" y="259689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107"/>
                </a:solidFill>
              </a:rPr>
              <a:t>③  quantify_node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" y="290779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</a:rPr>
              <a:t>Pure Python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2761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03320" y="256032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13048" y="25968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Writes: 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25968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uncertainties {solar/wind/demand/price} each {p10·value·p90·confidence}  ·  risk_appetite  ·  avg_confidence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554480" y="3236976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</a:rPr>
              <a:t>▼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337560"/>
            <a:ext cx="310896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D2A8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4048" y="337413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</a:rPr>
              <a:t>④  run_agents_node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" y="368503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A8FF"/>
                </a:solidFill>
              </a:rPr>
              <a:t>asyncio.gather() — 7× Claude Haiku  +  Demo fallback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35387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703320" y="333756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813048" y="33741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Writes: 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480560" y="33741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agent_outputs {monitor·forecast·battery·market·generation·demand·maintenance}  ·  agent_logs[]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4014216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</a:rPr>
              <a:t>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4114800"/>
            <a:ext cx="310896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84048" y="415137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</a:rPr>
              <a:t>⑤  resolve_node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84048" y="446227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B72"/>
                </a:solidFill>
              </a:rPr>
              <a:t>Claude Sonnet  +  Demo fallback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383280" y="4315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703320" y="411480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813048" y="41513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Writes: 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480560" y="41513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resolved_actions [{category·action·rationale}]  ·  conflicts_detected []  ·  conflict_reasoning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554480" y="4791456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</a:rPr>
              <a:t>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892040"/>
            <a:ext cx="310896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4048" y="492861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⑥  simulate_node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384048" y="523951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NumPy — always runs, no Demo bypass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3383280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703320" y="489204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813048" y="49286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Writes: 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480560" y="492861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simulation_scenarios (Top 3) [{strategy·cost_p10/p50/p90·reliability·carbon·score·battery_action}]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554480" y="5568696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</a:rPr>
              <a:t>▼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5669280"/>
            <a:ext cx="310896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84048" y="570585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107"/>
                </a:solidFill>
              </a:rPr>
              <a:t>⑦  report_node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384048" y="601675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107"/>
                </a:solidFill>
              </a:rPr>
              <a:t>Claude Sonnet  +  Demo fallback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383280" y="5870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703320" y="566928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813048" y="57058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Writes: 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4480560" y="57058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decision_brief (markdown)  ·  executive_summary (1 sentence)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7 Parallel Sub-Agents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agents/sub_agents.py — all 7 run simultaneously via asyncio.gather(). Total time = slowest agent, not sum of all 7.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2743200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" y="1115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72"/>
                </a:solidFill>
              </a:rPr>
              <a:t>🔍  Monitor Agent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148132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Claude Haiku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4048" y="17830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anomalies [{asset·type·severity}]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22402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fault_count: int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26974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recommend_emergency: bool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" y="31546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summary: str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36976" y="1005840"/>
            <a:ext cx="2743200" cy="27432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1005840"/>
            <a:ext cx="27432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46704" y="1115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📈  Forecast Agent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46704" y="148132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Claude Haiku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46704" y="17830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next_15min_generation_mw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46704" y="22402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next_4hr_avg_generation_mw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46704" y="26974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demand_outlook: RISING|STABLE|FALLING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346704" y="31546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summary: str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9632" y="1005840"/>
            <a:ext cx="2743200" cy="27432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1005840"/>
            <a:ext cx="2743200" cy="7315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1115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8A"/>
                </a:solidFill>
              </a:rPr>
              <a:t>🔋  Battery Agent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148132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Claude Haiku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17830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actions [{unit_id·action·rate_mw}]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22402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Actions: CHARGE|DISCHARGE|HOLD|OFFLINE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26974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Per unit: BESS-1 and BESS-2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1546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summary: str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62288" y="1005840"/>
            <a:ext cx="2743200" cy="2743200"/>
          </a:xfrm>
          <a:prstGeom prst="rect">
            <a:avLst/>
          </a:prstGeom>
          <a:solidFill>
            <a:srgbClr val="161B22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62288" y="1005840"/>
            <a:ext cx="2743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72016" y="1115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07"/>
                </a:solidFill>
              </a:rPr>
              <a:t>💰  Market Agent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272016" y="148132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Claude Haiku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272016" y="17830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action: BUY|SELL|HOLD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272016" y="22402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volume_mw: float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272016" y="26974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expected_revenue: float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272016" y="31546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summary: str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554480" y="3931920"/>
            <a:ext cx="2834640" cy="24688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54480" y="3931920"/>
            <a:ext cx="283464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64208" y="40416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⚡  Generation Agent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664208" y="440740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Claude Haiku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664208" y="47091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curtail_solar_mw: float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664208" y="511149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curtail_wind_mw: float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664208" y="55138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priority: SOLAR|WIND|BALANCED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664208" y="591616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summary: str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931920"/>
            <a:ext cx="2834640" cy="24688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931920"/>
            <a:ext cx="283464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73168" y="40416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07"/>
                </a:solidFill>
              </a:rPr>
              <a:t>🏭  Demand Agent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773168" y="440740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Claude Haiku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773168" y="47091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demand_response_trigger: bool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773168" y="511149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shifted_mw: float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773168" y="55138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consumers: [IND-1·IND-2·IND-3]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773168" y="591616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summary: str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772400" y="3931920"/>
            <a:ext cx="2834640" cy="246888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3931920"/>
            <a:ext cx="283464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882128" y="40416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🔧  Maintenance Agent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7882128" y="440740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Claude Haiku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7882128" y="47091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inspection_dispatch: bool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882128" y="511149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deferred_work: [list]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882128" y="55138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Defers in EMERGENCY mode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7882128" y="591616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summary: str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6446520"/>
            <a:ext cx="11612880" cy="109728"/>
          </a:xfrm>
          <a:prstGeom prst="rect">
            <a:avLst/>
          </a:prstGeom>
          <a:solidFill>
            <a:srgbClr val="1A0A2A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57200" y="6446520"/>
            <a:ext cx="11247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A8FF"/>
                </a:solidFill>
              </a:rPr>
              <a:t>asyncio.gather(monitor, forecast, battery, market, generation, demand, maintenance)  — all fire simultaneously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4 Operational Modes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Situation Classifier (Claude Sonnet) reads system_summary and sets the mode. Objective weights shift automatically. (config.py)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5394960"/>
          </a:xfrm>
          <a:prstGeom prst="rect">
            <a:avLst/>
          </a:prstGeom>
          <a:solidFill>
            <a:srgbClr val="0A2A0A"/>
          </a:solidFill>
          <a:ln w="25400">
            <a:solidFill>
              <a:srgbClr val="00D4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475488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" y="103327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</a:rPr>
              <a:t>NORMAL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157276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8A"/>
                </a:solidFill>
              </a:rPr>
              <a:t>Trigger: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4048" y="179222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Balanced generation &amp; demand. All assets online.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25603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8A"/>
                </a:solidFill>
              </a:rPr>
              <a:t>Objective Weights: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880360"/>
            <a:ext cx="571500" cy="27432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" y="316382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cost  0.25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3374136"/>
            <a:ext cx="457200" cy="27432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" y="365760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carbon  0.20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3867912"/>
            <a:ext cx="571500" cy="27432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" y="415137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reliability  0.25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4361688"/>
            <a:ext cx="457200" cy="27432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" y="46451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renew  0.20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4855464"/>
            <a:ext cx="228600" cy="27432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" y="513892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profit  0.10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55264" y="1005840"/>
            <a:ext cx="2743200" cy="5394960"/>
          </a:xfrm>
          <a:prstGeom prst="rect">
            <a:avLst/>
          </a:prstGeom>
          <a:solidFill>
            <a:srgbClr val="2A1500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55264" y="1005840"/>
            <a:ext cx="2743200" cy="47548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28416" y="103327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</a:rPr>
              <a:t>STRESS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364992" y="157276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107"/>
                </a:solidFill>
              </a:rPr>
              <a:t>Trigger: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364992" y="179222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Low solar/wind, battery failure, transmission cap, or demand surge.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364992" y="25603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107"/>
                </a:solidFill>
              </a:rPr>
              <a:t>Objective Weights: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2880360"/>
            <a:ext cx="342900" cy="274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64992" y="316382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cost  0.15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64992" y="3374136"/>
            <a:ext cx="228600" cy="274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64992" y="365760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carbon  0.10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64992" y="3867912"/>
            <a:ext cx="1143000" cy="274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64992" y="415137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reliability  0.50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64992" y="4361688"/>
            <a:ext cx="228600" cy="274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64992" y="46451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renew  0.10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64992" y="4855464"/>
            <a:ext cx="342900" cy="274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64992" y="513892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profit  0.15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36208" y="1005840"/>
            <a:ext cx="2743200" cy="5394960"/>
          </a:xfrm>
          <a:prstGeom prst="rect">
            <a:avLst/>
          </a:prstGeom>
          <a:solidFill>
            <a:srgbClr val="2A0A0A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36208" y="1005840"/>
            <a:ext cx="2743200" cy="47548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0" y="103327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</a:rPr>
              <a:t>EMERGENCY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6345936" y="157276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B72"/>
                </a:solidFill>
              </a:rPr>
              <a:t>Trigger: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345936" y="179222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Battery failure + demand surge + storm. CRISIS scenario.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345936" y="25603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B72"/>
                </a:solidFill>
              </a:rPr>
              <a:t>Objective Weights: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45936" y="2880360"/>
            <a:ext cx="114300" cy="2743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45936" y="316382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cost  0.05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45936" y="3374136"/>
            <a:ext cx="114300" cy="2743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45936" y="365760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carbon  0.05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45936" y="3867912"/>
            <a:ext cx="1828800" cy="2743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45936" y="415137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reliability  0.80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45936" y="4361688"/>
            <a:ext cx="114300" cy="2743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45936" y="46451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renew  0.05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45936" y="4855464"/>
            <a:ext cx="114300" cy="2743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45936" y="513892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profit  0.05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217152" y="1005840"/>
            <a:ext cx="2743200" cy="5394960"/>
          </a:xfrm>
          <a:prstGeom prst="rect">
            <a:avLst/>
          </a:prstGeom>
          <a:solidFill>
            <a:srgbClr val="0A1A2A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17152" y="1005840"/>
            <a:ext cx="2743200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290304" y="103327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</a:rPr>
              <a:t>OPPORTUNITY</a:t>
            </a:r>
            <a:endParaRPr lang="en-US" sz="1700" dirty="0"/>
          </a:p>
        </p:txBody>
      </p:sp>
      <p:sp>
        <p:nvSpPr>
          <p:cNvPr id="57" name="Text 55"/>
          <p:cNvSpPr txBox="1"/>
          <p:nvPr/>
        </p:nvSpPr>
        <p:spPr>
          <a:xfrm>
            <a:off x="9326880" y="157276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Trigger: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9326880" y="179222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Wind surge or price spike — profit window available.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9326880" y="25603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Objective Weights: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326880" y="2880360"/>
            <a:ext cx="457200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326880" y="316382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cost  0.20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326880" y="3374136"/>
            <a:ext cx="342900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326880" y="365760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carbon  0.15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326880" y="3867912"/>
            <a:ext cx="342900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326880" y="415137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reliability  0.15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326880" y="4361688"/>
            <a:ext cx="457200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326880" y="46451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renew  0.20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326880" y="4855464"/>
            <a:ext cx="685800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326880" y="513892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profit  0.30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7200" y="652881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</a:rPr>
              <a:t>Conflict Priority:  Safety  &gt;  Grid Stability  &gt;  Cost  &gt;  Carbon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8 Operational Scenarios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data/mock_generator.py — each generates realistic sensor data. The AI adapts its mode and decisions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26060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34747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" y="104241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NORMAL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4081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🟢  NORMAL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17556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Baseline. All assets online. Balanced generation and demand.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Gen: 535 MW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Demand: 409 MW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9809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Balance: +126 MW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32369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Price: $50/MWh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36976" y="1005840"/>
            <a:ext cx="2743200" cy="26060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36976" y="1005840"/>
            <a:ext cx="2743200" cy="34747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10128" y="104241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STRESS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28416" y="14081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☁️  CLOUD_COVER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28416" y="17556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Solar drops 80%. Battery discharges to cover shortfall.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28416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Gen: 340 MW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328416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Demand: 406 MW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328416" y="29809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Balance: -67 MW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328416" y="32369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Price: $54/MWh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9632" y="1005840"/>
            <a:ext cx="2743200" cy="26060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005840"/>
            <a:ext cx="274320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72784" y="104241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OPPORTUNITY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91072" y="14081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💨  WIND_SURGE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91072" y="17556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Wind spikes. Charge batteries + export surplus to market.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Gen: 655 MW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91072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Demand: 403 MW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291072" y="29809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Balance: +252 MW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91072" y="32369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Price: $31/MWh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62288" y="1005840"/>
            <a:ext cx="2743200" cy="26060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62288" y="1005840"/>
            <a:ext cx="274320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35440" y="104241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OPPORTUNITY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53728" y="14081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💰  PRICE_SPIKE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253728" y="17556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Prices at $149/MWh. Discharge stored energy to sell at peak.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253728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Gen: 356 MW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253728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Demand: 401 MW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253728" y="29809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Balance: -45 MW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253728" y="32369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Price: $149/MWh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840480"/>
            <a:ext cx="2743200" cy="26060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840480"/>
            <a:ext cx="2743200" cy="34747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7472" y="38770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STRESS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65760" y="42428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🔋  BATTERY_FAILURE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365760" y="4590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BESS-1 offline. Reliability mode. Only BESS-2 available.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365760" y="5303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Gen: 545 MW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365760" y="5559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Demand: 440 MW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65760" y="58155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Balance: +106 MW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65760" y="6071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Price: $69/MWh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36976" y="3840480"/>
            <a:ext cx="2743200" cy="26060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36976" y="3840480"/>
            <a:ext cx="2743200" cy="34747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310128" y="38770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STRESS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3328416" y="42428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🔌  TRANSMISSION_CAP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3328416" y="4590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Grid export limit hit. Curtail or store surplus locally.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3328416" y="5303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Gen: 543 MW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3328416" y="5559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Demand: 412 MW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3328416" y="58155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Balance: +130 MW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3328416" y="6071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Price: $75/MWh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99632" y="3840480"/>
            <a:ext cx="2743200" cy="26060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99632" y="3840480"/>
            <a:ext cx="2743200" cy="34747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272784" y="38770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STRESS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6291072" y="42428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📈  DEMAND_SURGE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6291072" y="4590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Load 40% above forecast. Demand response triggered (125 MW).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6291072" y="5303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Gen: 414 MW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6291072" y="5559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Demand: 572 MW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6291072" y="58155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Balance: -158 MW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6291072" y="6071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Price: $95/MWh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162288" y="3840480"/>
            <a:ext cx="2743200" cy="26060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62288" y="3840480"/>
            <a:ext cx="2743200" cy="34747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235440" y="38770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EMERGENCY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9253728" y="42428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🚨  CRISIS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9253728" y="4590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Battery failure + demand surge + storm. 3 conflicts. DR activated.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9253728" y="5303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Gen: 315 MW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9253728" y="5559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Demand: 513 MW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9253728" y="58155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Balance: -198 MW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9253728" y="6071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Price: $154/MWh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Monte Carlo Simulation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agents/scenario_simulator.py — pure NumPy, no Claude call. Always runs even in Demo Mode.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840480" cy="1828800"/>
          </a:xfrm>
          <a:prstGeom prst="rect">
            <a:avLst/>
          </a:prstGeom>
          <a:solidFill>
            <a:srgbClr val="0D2040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097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8A6FF"/>
                </a:solidFill>
              </a:rPr>
              <a:t>480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simulations per cycle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3840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" y="2971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8A"/>
                </a:solidFill>
              </a:rPr>
              <a:t>30 runs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3319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× 16 cycles (4-hour horizon)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3593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× 6 strategies = 480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005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6 Strategies Evaluated: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1417320"/>
            <a:ext cx="3566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98848" y="14721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Cost-Optimised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176479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HOLD · no sell · 0% curtail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566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47888" y="14721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Profit-Maximised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176479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DISCHARGE · SELL · 0% curtail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2240280"/>
            <a:ext cx="3566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8848" y="229514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Balanced Dispatch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98848" y="258775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CHARGE · SELL · 10% curtail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2240280"/>
            <a:ext cx="3566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47888" y="229514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Carbon-Minimised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258775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CHARGE · no sell · 20% curtail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063240"/>
            <a:ext cx="3566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98848" y="311810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Reliability-First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341071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DISCHARGE · no sell · 0% curtail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063240"/>
            <a:ext cx="35661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47888" y="311810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Emergency Reserve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47888" y="341071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HOLD · no sell · 30% curtail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160520"/>
            <a:ext cx="1161288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425196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8A"/>
                </a:solidFill>
              </a:rPr>
              <a:t>Output — Top 3 Strategies Ranked by Weighted Score: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617720"/>
            <a:ext cx="2651760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466344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strategy (name)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4617720"/>
            <a:ext cx="2651760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01568" y="466344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cost_p10 / cost_p50 / cost_p90 ($)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4617720"/>
            <a:ext cx="2651760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36208" y="466344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carbon_p50_tonnes (CO₂)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61120" y="4617720"/>
            <a:ext cx="2651760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70848" y="466344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reliability_p50_pct (%)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166360"/>
            <a:ext cx="2651760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" y="52120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curtailment_p50_mwh (MWh)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91840" y="5166360"/>
            <a:ext cx="2651760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401568" y="52120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weighted_score (lower = better)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5166360"/>
            <a:ext cx="2651760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36208" y="52120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battery_action: CHARGE|DISCHARGE|HOLD|RESERVE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61120" y="5166360"/>
            <a:ext cx="2651760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70848" y="52120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sell_surplus: bool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Human-in-the-Loop + Dashboard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dashboard/app.py — Streamlit. Zero actions execute without operator approval.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303520" cy="5394960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97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B72"/>
                </a:solidFill>
              </a:rPr>
              <a:t>👤  HITL Checkpoint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Operator sees full Decision Brief + all 7 agent outputs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754880" cy="731520"/>
          </a:xfrm>
          <a:prstGeom prst="rect">
            <a:avLst/>
          </a:prstGeom>
          <a:solidFill>
            <a:srgbClr val="0D3D24"/>
          </a:solidFill>
          <a:ln w="25400">
            <a:solidFill>
              <a:srgbClr val="00D4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38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8A"/>
                </a:solidFill>
              </a:rPr>
              <a:t>✅  APPROVE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04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Execute recommended actions  →  hitl_approved = True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754880" cy="731520"/>
          </a:xfrm>
          <a:prstGeom prst="rect">
            <a:avLst/>
          </a:prstGeom>
          <a:solidFill>
            <a:srgbClr val="2A1A00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52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107"/>
                </a:solidFill>
              </a:rPr>
              <a:t>✏️  OVERRIDE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18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Type custom instruction  →  hitl_override = "your text"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49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Audit Log: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965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[Aggregator]  [Classifier]  [Uncertainty]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439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[MONITOR]  [FORECAST]  [BATTERY]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914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[MARKET]  [GENERATION]  [DEMAND]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1389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[MAINTENANCE]  [ConflictResolver]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486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[Simulator]  [Reporter]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943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</a:rPr>
              <a:t>agent_logs: Annotated[list[str], operator.add] — LangGraph merges automatically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0" y="1005840"/>
            <a:ext cx="6035040" cy="53949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10972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📊  Streamlit Dashboard Tabs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35040" y="1572768"/>
            <a:ext cx="5577840" cy="640080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44768" y="1609344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🎛️  Tab 1: Live Dashboard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44768" y="1865376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KPI cards · Battery SOC gauges · Gen vs Demand bar chart · Objective weights radar · Resolved actions · HITL panel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322576"/>
            <a:ext cx="5577840" cy="640080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44768" y="2359152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🤖  Tab 2: Agent Reasoning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144768" y="2615184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Situation classification · Conflicts detected · All 7 agent outputs (expandable JSON) · Full audit log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072384"/>
            <a:ext cx="5577840" cy="640080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44768" y="3108960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🔭  Tab 3: Scenarios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144768" y="3364992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Top 3 strategies table · Cost P10/P50/P90 chart · Carbon vs Reliability tradeoff scatter · Strategy detail cards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822192"/>
            <a:ext cx="5577840" cy="640080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44768" y="3858768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📋  Tab 4: Decision Brief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144768" y="4114800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Full AI-generated markdown: ## Situation · ## Recommended Actions · ## Risk Assessment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4572000"/>
            <a:ext cx="5577840" cy="640080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44768" y="4608576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📈  Tab 5: History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144768" y="4864608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Multi-cycle trends: generation·demand·price time series · Mode distribution pie chart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5321808"/>
            <a:ext cx="5577840" cy="640080"/>
          </a:xfrm>
          <a:prstGeom prst="rect">
            <a:avLst/>
          </a:prstGeom>
          <a:solidFill>
            <a:srgbClr val="0A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44768" y="5358384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🏆  Tab 6: 9-Blocker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144768" y="5614416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Self-assessment D2/F2 · Per-criterion justification · Evidence summary (269/269 · 8 scenarios · 480 sims)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Files &amp; Tech Stack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18 Python files written from scratch. No boilerplate. No tutorial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240280" cy="1298448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240280" cy="27432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0332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Core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3533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core/state.py — EnergySystemState TypedDict (all 20 fields declared)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18105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core/__init__.py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005840"/>
            <a:ext cx="2240280" cy="129844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005840"/>
            <a:ext cx="2240280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0332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Data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3533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data/mock_generator.py — 8 scenarios, realistic randomised sensor data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18105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data/__init__.py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2240280" cy="4626864"/>
          </a:xfrm>
          <a:prstGeom prst="rect">
            <a:avLst/>
          </a:prstGeom>
          <a:solidFill>
            <a:srgbClr val="161B22"/>
          </a:solidFill>
          <a:ln w="19050">
            <a:solidFill>
              <a:srgbClr val="D2A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1005840"/>
            <a:ext cx="2240280" cy="2743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10332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Agents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13533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agents/orchestrator.py — LangGraph state machine, run_cycle()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8105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agents/situation_classifier.py — Claude Sonnet, 4 modes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2677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agents/uncertainty_quantifier.py — P10/P50/P90 pure Python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7249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agents/sub_agents.py — 7× Claude Haiku via asyncio.gather()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1821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agents/conflict_resolver.py — Claude Sonnet, priority stack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6393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agents/scenario_simulator.py — 480 Monte Carlo, pure NumPy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40965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agents/reporting_agent.py — Claude Sonnet, Decision Brief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45537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agents/demo_mode.py — offline fallback for all 8 scenarios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50109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agents/__init__.py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1005840"/>
            <a:ext cx="2240280" cy="1298448"/>
          </a:xfrm>
          <a:prstGeom prst="rect">
            <a:avLst/>
          </a:prstGeom>
          <a:solidFill>
            <a:srgbClr val="161B22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1005840"/>
            <a:ext cx="2240280" cy="274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0" y="10332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Dashboard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13533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dashboard/app.py — Streamlit, 6 tabs, HITL panel, Plotly charts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18105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dashboard/__init__.py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784080" y="1005840"/>
            <a:ext cx="2240280" cy="1773936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1005840"/>
            <a:ext cx="2240280" cy="2743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75520" y="10332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Entry / Config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0" y="13533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main.py — CLI, single cycle or --simulate 96 (24-hour)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875520" y="18105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config.py — models, weights, Monte Carlo params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875520" y="226771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requirements.txt · .env.example · .gitignore · README.md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5715000"/>
            <a:ext cx="116128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8A"/>
                </a:solidFill>
              </a:rPr>
              <a:t>Tech Stack: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6080760"/>
            <a:ext cx="1316736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61081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LangGraph ≥0.2.28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74520" y="6080760"/>
            <a:ext cx="1316736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74520" y="61081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anthropic ≥0.40.0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91840" y="6080760"/>
            <a:ext cx="1316736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291840" y="61081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streamlit ≥1.38.0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9160" y="6080760"/>
            <a:ext cx="1316736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09160" y="61081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plotly ≥5.24.0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26480" y="6080760"/>
            <a:ext cx="1316736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126480" y="61081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numpy ≥1.26.0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543800" y="6080760"/>
            <a:ext cx="1316736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543800" y="61081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pandas ≥2.2.0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961120" y="6080760"/>
            <a:ext cx="1316736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961120" y="61081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pydantic ≥2.8.0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0378440" y="6080760"/>
            <a:ext cx="1316736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378440" y="61081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python-dotenv ≥1.0.0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Results &amp; Validation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e2e_validation.py — 7 pipeline stages × 8 scenarios. Every assertion verified against actual code output.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0515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8A"/>
                </a:solidFill>
              </a:rPr>
              <a:t>269/269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Tests Passing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4320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18688" y="10515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6FF"/>
                </a:solidFill>
              </a:rPr>
              <a:t>8 / 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218688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Scenarios Validated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1005840"/>
            <a:ext cx="274320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63056" y="10515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107"/>
                </a:solidFill>
              </a:rPr>
              <a:t>480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163056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Simulations/Cycle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07424" y="1005840"/>
            <a:ext cx="274320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07424" y="10515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B72"/>
                </a:solidFill>
              </a:rPr>
              <a:t>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107424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Conflicts Missed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8A"/>
                </a:solidFill>
              </a:rPr>
              <a:t>What Was Validated Per Scenario: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" y="299923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✅  Mock data integrity — generation = solar_mw + wind_mw  ·  net_balance = gen − demand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340156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✅  Situation classification — correct mode + objective weights per scenario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380390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✅  Uncertainty quantification — P10 &lt; P50 &lt; P90 for all 4 data streams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" y="420624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✅  All 7 sub-agents return output with required fields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" y="460857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✅  Conflict resolution — 0 conflicts in NORMAL, 3 conflicts in CRISIS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" y="50109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✅  Monte Carlo — 3 ranked strategies, valid percentile ordering, battery_action correct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541324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✅  Decision brief has ## Situation + ## Recommended Actions sections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581558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✅  Cross-scenario physics: WIND_SURGE &gt; NORMAL wind, CLOUD_COVER solar drops 80%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Per-Scenario Mode Accuracy: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23760" y="2999232"/>
            <a:ext cx="4663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33488" y="3044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NORMAL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3044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8A"/>
                </a:solidFill>
              </a:rPr>
              <a:t>NORMAL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30449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8A"/>
                </a:solidFill>
              </a:rPr>
              <a:t>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3401568"/>
            <a:ext cx="466344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33488" y="3447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CLOUD_COVER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0" y="3447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107"/>
                </a:solidFill>
              </a:rPr>
              <a:t>STRESS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34472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8A"/>
                </a:solidFill>
              </a:rPr>
              <a:t>✅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23760" y="3803904"/>
            <a:ext cx="4663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33488" y="3849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WIND_SURGE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601200" y="3849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</a:rPr>
              <a:t>OPPORTUNITY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38496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8A"/>
                </a:solidFill>
              </a:rPr>
              <a:t>✅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23760" y="4206240"/>
            <a:ext cx="466344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33488" y="4251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PRICE_SPIKE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601200" y="4251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</a:rPr>
              <a:t>OPPORTUNITY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1521440" y="4251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8A"/>
                </a:solidFill>
              </a:rPr>
              <a:t>✅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23760" y="4608576"/>
            <a:ext cx="4663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33488" y="4654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BATTERY_FAILURE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601200" y="4654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107"/>
                </a:solidFill>
              </a:rPr>
              <a:t>STRESS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1521440" y="46542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8A"/>
                </a:solidFill>
              </a:rPr>
              <a:t>✅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23760" y="5010912"/>
            <a:ext cx="466344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333488" y="5056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TRANSMISSION_CAP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601200" y="5056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107"/>
                </a:solidFill>
              </a:rPr>
              <a:t>STRESS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11521440" y="5056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8A"/>
                </a:solidFill>
              </a:rPr>
              <a:t>✅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223760" y="5413248"/>
            <a:ext cx="4663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33488" y="5458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DEMAND_SURGE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9601200" y="5458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107"/>
                </a:solidFill>
              </a:rPr>
              <a:t>STRESS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1521440" y="5458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8A"/>
                </a:solidFill>
              </a:rPr>
              <a:t>✅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223760" y="5815584"/>
            <a:ext cx="466344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333488" y="58613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CRISIS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601200" y="5861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</a:rPr>
              <a:t>EMERGENCY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11521440" y="5861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8A"/>
                </a:solidFill>
              </a:rPr>
              <a:t>✅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ET AI Hackathon: Agentic Edition  ·  Problem 4  ·  Renewable Energy Orchestrator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5486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6EDF3"/>
                </a:solidFill>
              </a:rPr>
              <a:t>Live Demo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B949E"/>
                </a:solidFill>
              </a:rPr>
              <a:t>See the AI orchestrate a full CRISIS scenario in real time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46888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2468880" cy="41148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8A"/>
                </a:solidFill>
              </a:rPr>
              <a:t>NORMAL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017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Baseline: 535 MW gen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409 MW demand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0 conflicts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363D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74720" y="2011680"/>
            <a:ext cx="246888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011680"/>
            <a:ext cx="2468880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WIND_SURGE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017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OPPORTUNITY mode: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charge + export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surplus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363D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09360" y="2011680"/>
            <a:ext cx="246888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2011680"/>
            <a:ext cx="2468880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107"/>
                </a:solidFill>
              </a:rPr>
              <a:t>PRICE_SPIKE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017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OPPORTUNITY mode: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sell at $149/MWh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7 agents parallel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363D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144000" y="2011680"/>
            <a:ext cx="246888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FF7B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2011680"/>
            <a:ext cx="2468880" cy="41148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B72"/>
                </a:solidFill>
              </a:rPr>
              <a:t>CRISIS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3017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EMERGENCY mode: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3 conflicts resolved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DR triggered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5394960"/>
            <a:ext cx="11430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8A"/>
                </a:solidFill>
              </a:rPr>
              <a:t>python -m streamlit run dashboard/app.py --server.headless true --browser.gatherUsageStats false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371600" y="6080760"/>
            <a:ext cx="9418320" cy="59436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371600" y="610819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269/269 Tests  ·  8 Scenarios  ·  480 Simulations/Cycle  ·  Fully Offline Demo Mode  ·  LangGraph + Claude 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Renewable Energy Orchestrator</dc:title>
  <dc:subject>Problem 4 — Agentic Edition</dc:subject>
  <dc:creator>Accenture ET AI Hackathon</dc:creator>
  <cp:lastModifiedBy>Accenture ET AI Hackathon</cp:lastModifiedBy>
  <cp:revision>1</cp:revision>
  <dcterms:created xsi:type="dcterms:W3CDTF">2026-10-09T10:14:10Z</dcterms:created>
  <dcterms:modified xsi:type="dcterms:W3CDTF">2026-10-09T10:14:10Z</dcterms:modified>
</cp:coreProperties>
</file>